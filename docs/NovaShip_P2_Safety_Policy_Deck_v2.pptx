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69939a23b14b3d" /><Relationship Type="http://schemas.openxmlformats.org/officeDocument/2006/relationships/extended-properties" Target="/docProps/app.xml" Id="Re54df5be8e4c4cbd" /><Relationship Type="http://schemas.openxmlformats.org/officeDocument/2006/relationships/officeDocument" Target="/ppt/presentation.xml" Id="R4ff6bc822a5f4b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ca3b6f5f504df1"/>
  </p:sldMasterIdLst>
  <p:notesMasterIdLst>
    <p:notesMasterId xmlns:r="http://schemas.openxmlformats.org/officeDocument/2006/relationships" r:id="R763932bf8fb2459c"/>
  </p:notesMasterIdLst>
  <p:sldIdLst>
    <p:sldId xmlns:r="http://schemas.openxmlformats.org/officeDocument/2006/relationships" id="256" r:id="R52a67d80cb7746eb"/>
    <p:sldId xmlns:r="http://schemas.openxmlformats.org/officeDocument/2006/relationships" id="257" r:id="Re5938005877044cf"/>
    <p:sldId xmlns:r="http://schemas.openxmlformats.org/officeDocument/2006/relationships" id="258" r:id="Rb285703f4b2b400a"/>
    <p:sldId xmlns:r="http://schemas.openxmlformats.org/officeDocument/2006/relationships" id="259" r:id="Rfb7ef6e3583b4fee"/>
    <p:sldId xmlns:r="http://schemas.openxmlformats.org/officeDocument/2006/relationships" id="260" r:id="Rb06406b0109646aa"/>
    <p:sldId xmlns:r="http://schemas.openxmlformats.org/officeDocument/2006/relationships" id="261" r:id="Rf23e93b040a94f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ef01b5df3c44ce" /><Relationship Type="http://schemas.openxmlformats.org/officeDocument/2006/relationships/slideMaster" Target="/ppt/slideMasters/slideMaster1.xml" Id="R58ca3b6f5f504df1" /><Relationship Type="http://schemas.openxmlformats.org/officeDocument/2006/relationships/notesMaster" Target="/ppt/notesMasters/notesMaster1.xml" Id="R763932bf8fb2459c" /><Relationship Type="http://schemas.openxmlformats.org/officeDocument/2006/relationships/presProps" Target="/ppt/presProps.xml" Id="R03cfd1016d1a4c50" /><Relationship Type="http://schemas.openxmlformats.org/officeDocument/2006/relationships/tableStyles" Target="/ppt/tableStyles.xml" Id="R4c41354cf921419f" /><Relationship Type="http://schemas.openxmlformats.org/officeDocument/2006/relationships/slide" Target="/ppt/slides/slide1.xml" Id="R52a67d80cb7746eb" /><Relationship Type="http://schemas.openxmlformats.org/officeDocument/2006/relationships/slide" Target="/ppt/slides/slide2.xml" Id="Re5938005877044cf" /><Relationship Type="http://schemas.openxmlformats.org/officeDocument/2006/relationships/slide" Target="/ppt/slides/slide3.xml" Id="Rb285703f4b2b400a" /><Relationship Type="http://schemas.openxmlformats.org/officeDocument/2006/relationships/slide" Target="/ppt/slides/slide4.xml" Id="Rfb7ef6e3583b4fee" /><Relationship Type="http://schemas.openxmlformats.org/officeDocument/2006/relationships/slide" Target="/ppt/slides/slide5.xml" Id="Rb06406b0109646aa" /><Relationship Type="http://schemas.openxmlformats.org/officeDocument/2006/relationships/slide" Target="/ppt/slides/slide6.xml" Id="Rf23e93b040a9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15ee8b4c34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6b5256297040a6" /><Relationship Type="http://schemas.openxmlformats.org/officeDocument/2006/relationships/notesMaster" Target="/ppt/notesMasters/notesMaster1.xml" Id="Re4de7bc5a38f48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280772fb8d4bf9" /><Relationship Type="http://schemas.openxmlformats.org/officeDocument/2006/relationships/notesMaster" Target="/ppt/notesMasters/notesMaster1.xml" Id="R0e5c85b932f444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6df4fb928846b6" /><Relationship Type="http://schemas.openxmlformats.org/officeDocument/2006/relationships/notesMaster" Target="/ppt/notesMasters/notesMaster1.xml" Id="R7f7db085a43f45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b8dec68d954dab" /><Relationship Type="http://schemas.openxmlformats.org/officeDocument/2006/relationships/notesMaster" Target="/ppt/notesMasters/notesMaster1.xml" Id="Ra7af74b07e9045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d00315a08546b4" /><Relationship Type="http://schemas.openxmlformats.org/officeDocument/2006/relationships/notesMaster" Target="/ppt/notesMasters/notesMaster1.xml" Id="Rea019531377841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8ca361bdba4aa9" /><Relationship Type="http://schemas.openxmlformats.org/officeDocument/2006/relationships/notesMaster" Target="/ppt/notesMasters/notesMaster1.xml" Id="R97d491752aa948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P2.md; docs/P2_VERIFICATION.md.</a:t>
            </a:r>
          </a:p>
          <a:p xmlns:a="http://schemas.openxmlformats.org/drawingml/2006/main">
            <a:r>
              <a:t>All metrics reflect the local verification run on 20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P2.md; backend/app/ai/assistant.py; backend/app/services/case_service.py.</a:t>
            </a:r>
          </a:p>
          <a:p xmlns:a="http://schemas.openxmlformats.org/drawingml/2006/main">
            <a:r>
              <a:t>The diagram summarizes the implemented preview and confirmation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backend/app/ai/assistant.py; backend/tests/test_assistant.py.</a:t>
            </a:r>
          </a:p>
          <a:p xmlns:a="http://schemas.openxmlformats.org/drawingml/2006/main">
            <a:r>
              <a:t>The test suite includes paraphrased mismatch claims, invented values, false positive match claims, and active/passive action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backend/app/ai/assistant.py; backend/app/services/case_service.py; frontend/components/collab.tsx.</a:t>
            </a:r>
          </a:p>
          <a:p xmlns:a="http://schemas.openxmlformats.org/drawingml/2006/main">
            <a:r>
              <a:t>Tests: backend/tests/test_assistant.py and backend/tests/test_pipeline_and_api.py.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backend/app/auth/rbac.py; backend/app/core/policy.py; backend/app/services/case_service.py.</a:t>
            </a:r>
          </a:p>
          <a:p xmlns:a="http://schemas.openxmlformats.org/drawingml/2006/main">
            <a:r>
              <a:t>Role tests appear in backend/tests/test_pipeline_and_api.py.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docs/P2_VERIFICATION.md, verified 20 September 2026.</a:t>
            </a:r>
          </a:p>
          <a:p xmlns:a="http://schemas.openxmlformats.org/drawingml/2006/main">
            <a:r>
              <a:t>No OpenAI, Google, Supabase or Microsoft Graph credentials were present during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206c1bfeb45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4729e9f9e245c6" /><Relationship Type="http://schemas.openxmlformats.org/officeDocument/2006/relationships/slideLayout" Target="/ppt/slideLayouts/slideLayout1.xml" Id="Rf9dac1edc5d84e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ac1edc5d84e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d7e5461cf4fdc" /><Relationship Type="http://schemas.openxmlformats.org/officeDocument/2006/relationships/notesSlide" Target="/ppt/notesSlides/notesSlide1.xml" Id="Red7ef690373346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a471db30a4c09" /><Relationship Type="http://schemas.openxmlformats.org/officeDocument/2006/relationships/notesSlide" Target="/ppt/notesSlides/notesSlide2.xml" Id="R5651ad25d5d647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d3044f9584872" /><Relationship Type="http://schemas.openxmlformats.org/officeDocument/2006/relationships/notesSlide" Target="/ppt/notesSlides/notesSlide3.xml" Id="Rdf0c3d0b0b4949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64c0547ab40af" /><Relationship Type="http://schemas.openxmlformats.org/officeDocument/2006/relationships/notesSlide" Target="/ppt/notesSlides/notesSlide4.xml" Id="R7e97edfbbb814e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4c80f5cd04bed" /><Relationship Type="http://schemas.openxmlformats.org/officeDocument/2006/relationships/notesSlide" Target="/ppt/notesSlides/notesSlide5.xml" Id="R69a0b19e9703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7afc71d614ab2" /><Relationship Type="http://schemas.openxmlformats.org/officeDocument/2006/relationships/notesSlide" Target="/ppt/notesSlides/notesSlide6.xml" Id="R94fb3188922545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4D56C-9EAF-4A70-947C-17CCC55F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0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F9DA7-13D2-4408-9EC5-0198DAD6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NovaShip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1430B-7E9D-41AA-856B-319EFB4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DF5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DF5F3"/>
                </a:solidFill>
                <a:latin typeface="Helvetica Neue"/>
                <a:ea typeface="Helvetica Neue"/>
                <a:cs typeface="Helvetica Neue"/>
              </a:rPr>
              <a:t>Case Assistant, Policy and AI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476FF-3B5B-4264-83F5-3C9EEF9D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Human review controls every external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5E6E0-0AD8-4A04-B221-65CA2E1A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F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FDF"/>
                </a:solidFill>
                <a:latin typeface="Helvetica Neue"/>
                <a:ea typeface="Helvetica Neue"/>
                <a:cs typeface="Helvetica Neue"/>
              </a:rPr>
              <a:t>Verification baseline: 114 backend tests, 520 cases, 1,427 RAG chunks</a:t>
            </a:r>
          </a:p>
        </p:txBody>
      </p:sp>
    </p:spTree>
    <p:extLst>
      <p:ext uri="{BB962C8B-B14F-4D97-AF65-F5344CB8AC3E}">
        <p14:creationId xmlns:p14="http://schemas.microsoft.com/office/powerpoint/2010/main" val="1267336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96ADA-B485-42E7-8FFA-F53B9672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Human review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5BEE9-D8ED-42A0-9070-5B3C92CA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FF1FD-5059-476D-B78C-0CF6167E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The deterministic comparator produces the verdict. The assistant explains and drafts around that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8162E-79B7-466C-ACD0-3E9ED120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B9F93-DA06-44BF-9DCD-F720FAEB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721B2-EE92-412E-83F0-841313A4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Comparator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85F56-5439-48DB-9C9B-015D78A2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Seven shipping fields</a:t>
            </a:r>
          </a:p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produce MATCH or 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8FA64-105E-4155-A83B-24D8D98F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06EF-2FE2-491A-920E-73451292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4300E-328E-4C85-8293-3E7C0418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Assistant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C5519-737D-40C6-9090-849FCC25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385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Grounded explanation</a:t>
            </a:r>
          </a:p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and proposed 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EAF5E-A2EA-450D-97FE-E3FAB7E5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19050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3A836-892F-45E1-917D-E92EEE31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17AAC-D61C-43C1-994A-36C881EE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Authorised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0007A-CC82-40EB-8269-C991DAE4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Reviews recipient, fields</a:t>
            </a:r>
          </a:p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and exact preview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C8B2F-7205-495A-8598-259C6ADA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28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82D29-BF2F-48B4-B0B5-79C3A737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DF509-9161-4D2E-B580-D425D386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Send and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9842D-9DD2-4436-9688-5411B31E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Approved content leaves</a:t>
            </a:r>
          </a:p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under one share ID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9900" y="30956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6A6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67400" y="30956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6A6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24900" y="30956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6A6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50369-CF79-4497-BCDD-D98C00A7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929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The assistant cannot alter the seven-field verdict or confirm an action on a user's behalf.</a:t>
            </a:r>
          </a:p>
        </p:txBody>
      </p:sp>
    </p:spTree>
    <p:extLst>
      <p:ext uri="{BB962C8B-B14F-4D97-AF65-F5344CB8AC3E}">
        <p14:creationId xmlns:p14="http://schemas.microsoft.com/office/powerpoint/2010/main" val="528607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0B930-5028-4BB0-914E-1502652B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AI safety enforcement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A3D38-735C-49F0-AD7D-2B462F95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D6FDB-DE6C-4EAF-AE1D-F94D0A32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Each trust boundary has a deterministic rejection or safe fallback.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762500"/>
                <a:gridCol w="3486150"/>
              </a:tblGrid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Threat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result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Cross-case request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case ID check and case-scoped RAG filter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Refuse and cite communication policy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Invented field verdict or value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 validator checks comparator result and known SI/BL values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Discard model output and use grounded fallback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Claimed send or approval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Completed-action phrase validation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Discard model output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 prompt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Send, bypass, delegated approval and invention patterns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 refused=true with policy evidence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8F495-2B04-4E6F-ACC1-7F5E2EC9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Conservative behavior is intentional: uncertain model output never overrides deterministic evidence.</a:t>
            </a:r>
          </a:p>
        </p:txBody>
      </p:sp>
    </p:spTree>
    <p:extLst>
      <p:ext uri="{BB962C8B-B14F-4D97-AF65-F5344CB8AC3E}">
        <p14:creationId xmlns:p14="http://schemas.microsoft.com/office/powerpoint/2010/main" val="129056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37250-A562-46F2-8B84-8DA9BF87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Translation and sharing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2958E-72C8-48FE-AB31-1A6C5B27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BEE53-4036-461E-973E-A3655167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Protected shipping data keeps its identity and association from preview through confirmation.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76300" y="1762125"/>
          <a:ext xmlns:a="http://schemas.openxmlformats.org/drawingml/2006/main" cx="104394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7962900"/>
              </a:tblGrid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1440" marR="91440" marT="45720" marB="45720" anchor="ctr">
                    <a:solidFill>
                      <a:srgbClr val="00A6A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Implemented guarantee</a:t>
                      </a:r>
                    </a:p>
                  </a:txBody>
                  <a:tcPr marL="91440" marR="91440" marT="45720" marB="45720" anchor="ctr">
                    <a:solidFill>
                      <a:srgbClr val="00A6A6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Translation values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Masks complete labelled values, ports, weights, references and legal company forms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Token integrity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Missing, duplicated or reordered tokens return the original text unchanged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External disclosure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Subject, summary and original email body remain outside the external payload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 selection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Omitted selection defaults to mismatches, while an explicit empty selection remains empty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Finalizes the frozen message and payload under the same share ID. Retries are idempotent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A19D5-2A6E-4D2D-8B14-1AA47D5C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Fail-safe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ADABA-ABC5-4478-8AA6-F7C0716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If protected values cannot be restored exactly, the system returns the original text.</a:t>
            </a:r>
          </a:p>
        </p:txBody>
      </p:sp>
    </p:spTree>
    <p:extLst>
      <p:ext uri="{BB962C8B-B14F-4D97-AF65-F5344CB8AC3E}">
        <p14:creationId xmlns:p14="http://schemas.microsoft.com/office/powerpoint/2010/main" val="628742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BE002-D4A0-4A05-98AE-34AF0212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Role and policy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A65DC-F0BF-4820-8B7B-514A4EB5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24DA9-7666-4569-A413-32B4F4BE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The extracted Notify Party remains a comparison value. Recipient approval and user permission control communication.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533900"/>
              </a:tblGrid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Permitted actions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Restricted actions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Operations staff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View cases, ask grounded questions, share internally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Cannot notify an external party or change policy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Supervisor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drafts, confirm approved external shares, view policy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Cannot change policy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Supervisor capabilities plus versioned policy updates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Cannot bypass preview, audit or recipient approval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Auditor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 cases, shares and audit evidence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Cannot mutate case workflow or policy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B9DC2-2B75-4270-AA55-6431BA2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435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7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7F62"/>
                </a:solidFill>
                <a:latin typeface="Helvetica Neue"/>
                <a:ea typeface="Helvetica Neue"/>
                <a:cs typeface="Helvetica Neue"/>
              </a:rPr>
              <a:t>Every send decision creates an audit event with recipient, selected fields and due date.</a:t>
            </a:r>
          </a:p>
        </p:txBody>
      </p:sp>
    </p:spTree>
    <p:extLst>
      <p:ext uri="{BB962C8B-B14F-4D97-AF65-F5344CB8AC3E}">
        <p14:creationId xmlns:p14="http://schemas.microsoft.com/office/powerpoint/2010/main" val="1342284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A62CA-DC68-4F8F-8DCC-86768619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36B4B-72E5-4683-A764-FBF8287B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07487-4BF1-47FA-B224-69C1D79D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F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FDF"/>
                </a:solidFill>
                <a:latin typeface="Helvetica Neue"/>
                <a:ea typeface="Helvetica Neue"/>
                <a:cs typeface="Helvetica Neue"/>
              </a:rPr>
              <a:t>Local acceptance evidence is complete. External integrations remain separate handoffs.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9B8AD-BEC9-4348-9CC4-37E81D47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DF5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DDF5F3"/>
                </a:solidFill>
                <a:latin typeface="Helvetica Neue"/>
                <a:ea typeface="Helvetica Neue"/>
                <a:cs typeface="Helvetica Neue"/>
              </a:rPr>
              <a:t>114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288C8-66CF-49B0-97CC-EAF7038A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backend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AE3B4-5C66-40A9-BAFC-0B1D1EC6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DF5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DDF5F3"/>
                </a:solidFill>
                <a:latin typeface="Helvetica Neue"/>
                <a:ea typeface="Helvetica Neue"/>
                <a:cs typeface="Helvetica Neue"/>
              </a:rPr>
              <a:t>520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DF548-B0F1-44BF-AEFC-CD7F3503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emails processed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35B3C-BF1D-4BA9-8834-E45D569A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DF5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DDF5F3"/>
                </a:solidFill>
                <a:latin typeface="Helvetica Neue"/>
                <a:ea typeface="Helvetica Neue"/>
                <a:cs typeface="Helvetica Neue"/>
              </a:rPr>
              <a:t>1,427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8F624-9022-41B3-9F31-5842C8A1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RAG chunks indexed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233B9-A34A-474A-8950-8AA13C92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14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4F3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4F3EC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F852B-7E44-4985-AE3C-1A22E70A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19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production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8C406-1FF7-4457-A43F-5F47758D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304800" indent="-127000">
              <a:spcAft>
                <a:spcPts val="1000"/>
              </a:spcAft>
              <a:buChar char="•"/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Real OpenAI or Gemini generation needs a supplied API key.</a:t>
            </a:r>
          </a:p>
          <a:p xmlns:a="http://schemas.openxmlformats.org/drawingml/2006/main">
            <a:pPr marL="304800" indent="-127000">
              <a:spcAft>
                <a:spcPts val="1000"/>
              </a:spcAft>
              <a:buChar char="•"/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Supabase pgvector and Microsoft Graph require the P3 infrastructure handoff.</a:t>
            </a:r>
          </a:p>
          <a:p xmlns:a="http://schemas.openxmlformats.org/drawingml/2006/main">
            <a:pPr marL="304800" indent="-127000">
              <a:spcAft>
                <a:spcPts val="1000"/>
              </a:spcAft>
              <a:buChar char="•"/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private organiser ground truth is required to recompute the recorded 1.0000 score.</a:t>
            </a:r>
          </a:p>
          <a:p xmlns:a="http://schemas.openxmlformats.org/drawingml/2006/main">
            <a:pPr marL="304800" indent="-127000">
              <a:spcAft>
                <a:spcPts val="1000"/>
              </a:spcAft>
              <a:buChar char="•"/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current Next.js dependency tree reports one critical and one high advisory; upgrade work is separate from P2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E8C86-F9D1-4539-9B41-022A816A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F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FDF"/>
                </a:solidFill>
                <a:latin typeface="Helvetica Neue"/>
                <a:ea typeface="Helvetica Neue"/>
                <a:cs typeface="Helvetica Neue"/>
              </a:rPr>
              <a:t>Detailed commands and acceptance evidence: docs/P2_VERIFICATION.md</a:t>
            </a:r>
          </a:p>
        </p:txBody>
      </p:sp>
    </p:spTree>
    <p:extLst>
      <p:ext uri="{BB962C8B-B14F-4D97-AF65-F5344CB8AC3E}">
        <p14:creationId xmlns:p14="http://schemas.microsoft.com/office/powerpoint/2010/main" val="2128805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2026-09-19T21:28:42.1760000Z</dcterms:created>
  <dcterms:modified xsi:type="dcterms:W3CDTF">2026-09-19T21:28:42.1760000Z</dcterms:modified>
</coreProperties>
</file>